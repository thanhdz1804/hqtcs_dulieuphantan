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nva Sans Bold" charset="1" panose="020B0803030501040103"/>
      <p:regular r:id="rId16"/>
    </p:embeddedFont>
    <p:embeddedFont>
      <p:font typeface="Open Sans Bold" charset="1" panose="00000000000000000000"/>
      <p:regular r:id="rId17"/>
    </p:embeddedFont>
    <p:embeddedFont>
      <p:font typeface="Canva Sans" charset="1" panose="020B05030305010401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8.pn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2716">
            <a:off x="8523232" y="3296541"/>
            <a:ext cx="14200338" cy="8743907"/>
          </a:xfrm>
          <a:custGeom>
            <a:avLst/>
            <a:gdLst/>
            <a:ahLst/>
            <a:cxnLst/>
            <a:rect r="r" b="b" t="t" l="l"/>
            <a:pathLst>
              <a:path h="8743907" w="14200338">
                <a:moveTo>
                  <a:pt x="0" y="0"/>
                </a:moveTo>
                <a:lnTo>
                  <a:pt x="14200338" y="0"/>
                </a:lnTo>
                <a:lnTo>
                  <a:pt x="14200338" y="8743906"/>
                </a:lnTo>
                <a:lnTo>
                  <a:pt x="0" y="87439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420102" y="4988317"/>
            <a:ext cx="2883339" cy="5360354"/>
          </a:xfrm>
          <a:custGeom>
            <a:avLst/>
            <a:gdLst/>
            <a:ahLst/>
            <a:cxnLst/>
            <a:rect r="r" b="b" t="t" l="l"/>
            <a:pathLst>
              <a:path h="5360354" w="2883339">
                <a:moveTo>
                  <a:pt x="0" y="0"/>
                </a:moveTo>
                <a:lnTo>
                  <a:pt x="2883339" y="0"/>
                </a:lnTo>
                <a:lnTo>
                  <a:pt x="2883339" y="5360354"/>
                </a:lnTo>
                <a:lnTo>
                  <a:pt x="0" y="53603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15521">
            <a:off x="14334459" y="45402"/>
            <a:ext cx="4015184" cy="4622609"/>
          </a:xfrm>
          <a:custGeom>
            <a:avLst/>
            <a:gdLst/>
            <a:ahLst/>
            <a:cxnLst/>
            <a:rect r="r" b="b" t="t" l="l"/>
            <a:pathLst>
              <a:path h="4622609" w="4015184">
                <a:moveTo>
                  <a:pt x="0" y="0"/>
                </a:moveTo>
                <a:lnTo>
                  <a:pt x="4015184" y="0"/>
                </a:lnTo>
                <a:lnTo>
                  <a:pt x="4015184" y="4622609"/>
                </a:lnTo>
                <a:lnTo>
                  <a:pt x="0" y="46226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50392" y="5530594"/>
            <a:ext cx="4784551" cy="4756406"/>
          </a:xfrm>
          <a:custGeom>
            <a:avLst/>
            <a:gdLst/>
            <a:ahLst/>
            <a:cxnLst/>
            <a:rect r="r" b="b" t="t" l="l"/>
            <a:pathLst>
              <a:path h="4756406" w="4784551">
                <a:moveTo>
                  <a:pt x="0" y="0"/>
                </a:moveTo>
                <a:lnTo>
                  <a:pt x="4784550" y="0"/>
                </a:lnTo>
                <a:lnTo>
                  <a:pt x="4784550" y="4756406"/>
                </a:lnTo>
                <a:lnTo>
                  <a:pt x="0" y="47564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970892">
            <a:off x="-3875210" y="-4235891"/>
            <a:ext cx="13380965" cy="8239375"/>
          </a:xfrm>
          <a:custGeom>
            <a:avLst/>
            <a:gdLst/>
            <a:ahLst/>
            <a:cxnLst/>
            <a:rect r="r" b="b" t="t" l="l"/>
            <a:pathLst>
              <a:path h="8239375" w="13380965">
                <a:moveTo>
                  <a:pt x="13380965" y="8239375"/>
                </a:moveTo>
                <a:lnTo>
                  <a:pt x="0" y="8239375"/>
                </a:lnTo>
                <a:lnTo>
                  <a:pt x="0" y="0"/>
                </a:lnTo>
                <a:lnTo>
                  <a:pt x="13380965" y="0"/>
                </a:lnTo>
                <a:lnTo>
                  <a:pt x="13380965" y="823937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709428" y="4245779"/>
            <a:ext cx="3540171" cy="3438247"/>
          </a:xfrm>
          <a:custGeom>
            <a:avLst/>
            <a:gdLst/>
            <a:ahLst/>
            <a:cxnLst/>
            <a:rect r="r" b="b" t="t" l="l"/>
            <a:pathLst>
              <a:path h="3438247" w="3540171">
                <a:moveTo>
                  <a:pt x="0" y="0"/>
                </a:moveTo>
                <a:lnTo>
                  <a:pt x="3540172" y="0"/>
                </a:lnTo>
                <a:lnTo>
                  <a:pt x="3540172" y="3438247"/>
                </a:lnTo>
                <a:lnTo>
                  <a:pt x="0" y="34382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874774" y="5964902"/>
            <a:ext cx="917342" cy="917342"/>
          </a:xfrm>
          <a:custGeom>
            <a:avLst/>
            <a:gdLst/>
            <a:ahLst/>
            <a:cxnLst/>
            <a:rect r="r" b="b" t="t" l="l"/>
            <a:pathLst>
              <a:path h="917342" w="917342">
                <a:moveTo>
                  <a:pt x="0" y="0"/>
                </a:moveTo>
                <a:lnTo>
                  <a:pt x="917342" y="0"/>
                </a:lnTo>
                <a:lnTo>
                  <a:pt x="917342" y="917342"/>
                </a:lnTo>
                <a:lnTo>
                  <a:pt x="0" y="9173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622587" y="3328437"/>
            <a:ext cx="917342" cy="917342"/>
          </a:xfrm>
          <a:custGeom>
            <a:avLst/>
            <a:gdLst/>
            <a:ahLst/>
            <a:cxnLst/>
            <a:rect r="r" b="b" t="t" l="l"/>
            <a:pathLst>
              <a:path h="917342" w="917342">
                <a:moveTo>
                  <a:pt x="0" y="0"/>
                </a:moveTo>
                <a:lnTo>
                  <a:pt x="917342" y="0"/>
                </a:lnTo>
                <a:lnTo>
                  <a:pt x="917342" y="917342"/>
                </a:lnTo>
                <a:lnTo>
                  <a:pt x="0" y="9173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75168" y="-11428"/>
            <a:ext cx="14948233" cy="560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43"/>
              </a:lnSpc>
            </a:pPr>
          </a:p>
          <a:p>
            <a:pPr algn="l" marL="0" indent="0" lvl="0">
              <a:lnSpc>
                <a:spcPts val="4443"/>
              </a:lnSpc>
            </a:pPr>
          </a:p>
          <a:p>
            <a:pPr algn="l" marL="0" indent="0" lvl="0">
              <a:lnSpc>
                <a:spcPts val="4443"/>
              </a:lnSpc>
            </a:pPr>
          </a:p>
          <a:p>
            <a:pPr algn="l" marL="0" indent="0" lvl="0">
              <a:lnSpc>
                <a:spcPts val="4443"/>
              </a:lnSpc>
            </a:pPr>
            <a:r>
              <a:rPr lang="en-US" b="true" sz="4677">
                <a:solidFill>
                  <a:srgbClr val="3B449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ĐỀ TÀI :</a:t>
            </a:r>
            <a:r>
              <a:rPr lang="en-US" b="true" sz="4677">
                <a:solidFill>
                  <a:srgbClr val="3B449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QUẢN LÝ NGÂN HÀNG ĐA CHI NHÁNH</a:t>
            </a:r>
          </a:p>
          <a:p>
            <a:pPr algn="l" marL="0" indent="0" lvl="0">
              <a:lnSpc>
                <a:spcPts val="4443"/>
              </a:lnSpc>
            </a:pPr>
            <a:r>
              <a:rPr lang="en-US" b="true" sz="4677">
                <a:solidFill>
                  <a:srgbClr val="3B449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MÔN: HỆ QUẢN TRỊ CƠ SỞ DỮ LIỆU PHÂN TÁN</a:t>
            </a:r>
          </a:p>
          <a:p>
            <a:pPr algn="l" marL="0" indent="0" lvl="0">
              <a:lnSpc>
                <a:spcPts val="4443"/>
              </a:lnSpc>
            </a:pPr>
          </a:p>
          <a:p>
            <a:pPr algn="l" marL="0" indent="0" lvl="0">
              <a:lnSpc>
                <a:spcPts val="4443"/>
              </a:lnSpc>
            </a:pPr>
            <a:r>
              <a:rPr lang="en-US" b="true" sz="4677">
                <a:solidFill>
                  <a:srgbClr val="3B449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SV: THÂN NHÂN THÀNH </a:t>
            </a:r>
          </a:p>
          <a:p>
            <a:pPr algn="l" marL="0" indent="0" lvl="0">
              <a:lnSpc>
                <a:spcPts val="4443"/>
              </a:lnSpc>
            </a:pPr>
            <a:r>
              <a:rPr lang="en-US" b="true" sz="4677">
                <a:solidFill>
                  <a:srgbClr val="3B449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MSSV: K225480106059</a:t>
            </a:r>
          </a:p>
          <a:p>
            <a:pPr algn="l" marL="0" indent="0" lvl="0">
              <a:lnSpc>
                <a:spcPts val="4443"/>
              </a:lnSpc>
            </a:pPr>
            <a:r>
              <a:rPr lang="en-US" b="true" sz="4677">
                <a:solidFill>
                  <a:srgbClr val="3B449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LỚP: K58KTP.01</a:t>
            </a:r>
          </a:p>
          <a:p>
            <a:pPr algn="l" marL="0" indent="0" lvl="0">
              <a:lnSpc>
                <a:spcPts val="4443"/>
              </a:lnSpc>
            </a:pPr>
            <a:r>
              <a:rPr lang="en-US" b="true" sz="4677">
                <a:solidFill>
                  <a:srgbClr val="3B449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NHÓM 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399559">
            <a:off x="-6483724" y="4295209"/>
            <a:ext cx="14200338" cy="8743907"/>
          </a:xfrm>
          <a:custGeom>
            <a:avLst/>
            <a:gdLst/>
            <a:ahLst/>
            <a:cxnLst/>
            <a:rect r="r" b="b" t="t" l="l"/>
            <a:pathLst>
              <a:path h="8743907" w="14200338">
                <a:moveTo>
                  <a:pt x="0" y="0"/>
                </a:moveTo>
                <a:lnTo>
                  <a:pt x="14200339" y="0"/>
                </a:lnTo>
                <a:lnTo>
                  <a:pt x="14200339" y="8743907"/>
                </a:lnTo>
                <a:lnTo>
                  <a:pt x="0" y="87439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true" flipV="true" rot="2700000">
            <a:off x="13324886" y="-2505332"/>
            <a:ext cx="13380965" cy="8239375"/>
          </a:xfrm>
          <a:custGeom>
            <a:avLst/>
            <a:gdLst/>
            <a:ahLst/>
            <a:cxnLst/>
            <a:rect r="r" b="b" t="t" l="l"/>
            <a:pathLst>
              <a:path h="8239375" w="13380965">
                <a:moveTo>
                  <a:pt x="13380965" y="8239375"/>
                </a:moveTo>
                <a:lnTo>
                  <a:pt x="0" y="8239375"/>
                </a:lnTo>
                <a:lnTo>
                  <a:pt x="0" y="0"/>
                </a:lnTo>
                <a:lnTo>
                  <a:pt x="13380965" y="0"/>
                </a:lnTo>
                <a:lnTo>
                  <a:pt x="13380965" y="823937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195745" y="4096589"/>
            <a:ext cx="10975938" cy="4486482"/>
            <a:chOff x="0" y="0"/>
            <a:chExt cx="2326814" cy="9510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26814" cy="951099"/>
            </a:xfrm>
            <a:custGeom>
              <a:avLst/>
              <a:gdLst/>
              <a:ahLst/>
              <a:cxnLst/>
              <a:rect r="r" b="b" t="t" l="l"/>
              <a:pathLst>
                <a:path h="951099" w="2326814">
                  <a:moveTo>
                    <a:pt x="45143" y="0"/>
                  </a:moveTo>
                  <a:lnTo>
                    <a:pt x="2281671" y="0"/>
                  </a:lnTo>
                  <a:cubicBezTo>
                    <a:pt x="2306603" y="0"/>
                    <a:pt x="2326814" y="20211"/>
                    <a:pt x="2326814" y="45143"/>
                  </a:cubicBezTo>
                  <a:lnTo>
                    <a:pt x="2326814" y="905957"/>
                  </a:lnTo>
                  <a:cubicBezTo>
                    <a:pt x="2326814" y="930888"/>
                    <a:pt x="2306603" y="951099"/>
                    <a:pt x="2281671" y="951099"/>
                  </a:cubicBezTo>
                  <a:lnTo>
                    <a:pt x="45143" y="951099"/>
                  </a:lnTo>
                  <a:cubicBezTo>
                    <a:pt x="20211" y="951099"/>
                    <a:pt x="0" y="930888"/>
                    <a:pt x="0" y="905957"/>
                  </a:cubicBezTo>
                  <a:lnTo>
                    <a:pt x="0" y="45143"/>
                  </a:lnTo>
                  <a:cubicBezTo>
                    <a:pt x="0" y="20211"/>
                    <a:pt x="20211" y="0"/>
                    <a:pt x="45143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326814" cy="9987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3441742" y="5534656"/>
            <a:ext cx="4978994" cy="4752344"/>
          </a:xfrm>
          <a:custGeom>
            <a:avLst/>
            <a:gdLst/>
            <a:ahLst/>
            <a:cxnLst/>
            <a:rect r="r" b="b" t="t" l="l"/>
            <a:pathLst>
              <a:path h="4752344" w="4978994">
                <a:moveTo>
                  <a:pt x="0" y="0"/>
                </a:moveTo>
                <a:lnTo>
                  <a:pt x="4978994" y="0"/>
                </a:lnTo>
                <a:lnTo>
                  <a:pt x="4978994" y="4752344"/>
                </a:lnTo>
                <a:lnTo>
                  <a:pt x="0" y="47523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88721" y="332928"/>
            <a:ext cx="4843962" cy="4949131"/>
          </a:xfrm>
          <a:custGeom>
            <a:avLst/>
            <a:gdLst/>
            <a:ahLst/>
            <a:cxnLst/>
            <a:rect r="r" b="b" t="t" l="l"/>
            <a:pathLst>
              <a:path h="4949131" w="4843962">
                <a:moveTo>
                  <a:pt x="0" y="0"/>
                </a:moveTo>
                <a:lnTo>
                  <a:pt x="4843962" y="0"/>
                </a:lnTo>
                <a:lnTo>
                  <a:pt x="4843962" y="4949131"/>
                </a:lnTo>
                <a:lnTo>
                  <a:pt x="0" y="49491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964840" y="532687"/>
            <a:ext cx="12358319" cy="1063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94"/>
              </a:lnSpc>
            </a:pPr>
            <a:r>
              <a:rPr lang="en-US" b="true" sz="8309">
                <a:solidFill>
                  <a:srgbClr val="3B449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GIỚI THIỆU ĐỀ TÀI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29505" y="4282429"/>
            <a:ext cx="9773890" cy="411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16"/>
              </a:lnSpc>
            </a:pPr>
            <a:r>
              <a:rPr lang="en-US" b="true" sz="3430" spc="30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Bài toán: Ngân hàng nhiều chi nhánh, dữ liệu phân tán, cần quản lý tập trung, truy vấn nhanh &amp; đồng bộ dữ liệu.</a:t>
            </a:r>
          </a:p>
          <a:p>
            <a:pPr algn="l" marL="0" indent="0" lvl="0">
              <a:lnSpc>
                <a:spcPts val="4116"/>
              </a:lnSpc>
            </a:pPr>
            <a:r>
              <a:rPr lang="en-US" b="true" sz="3430" spc="30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Mục tiêu: Xây dựng hệ thống đa chi nhánh, áp dụng CSDL phân tán, sử dụng SQL Server 2022, triển khai Linked Server và Replication.</a:t>
            </a:r>
          </a:p>
        </p:txBody>
      </p:sp>
    </p:spTree>
  </p:cSld>
  <p:clrMapOvr>
    <a:masterClrMapping/>
  </p:clrMapOvr>
  <p:transition spd="fast">
    <p:cover dir="ld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399559">
            <a:off x="-6483724" y="4295209"/>
            <a:ext cx="14200338" cy="8743907"/>
          </a:xfrm>
          <a:custGeom>
            <a:avLst/>
            <a:gdLst/>
            <a:ahLst/>
            <a:cxnLst/>
            <a:rect r="r" b="b" t="t" l="l"/>
            <a:pathLst>
              <a:path h="8743907" w="14200338">
                <a:moveTo>
                  <a:pt x="0" y="0"/>
                </a:moveTo>
                <a:lnTo>
                  <a:pt x="14200339" y="0"/>
                </a:lnTo>
                <a:lnTo>
                  <a:pt x="14200339" y="8743907"/>
                </a:lnTo>
                <a:lnTo>
                  <a:pt x="0" y="87439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true" flipV="true" rot="2700000">
            <a:off x="13748854" y="-2505332"/>
            <a:ext cx="13380965" cy="8239375"/>
          </a:xfrm>
          <a:custGeom>
            <a:avLst/>
            <a:gdLst/>
            <a:ahLst/>
            <a:cxnLst/>
            <a:rect r="r" b="b" t="t" l="l"/>
            <a:pathLst>
              <a:path h="8239375" w="13380965">
                <a:moveTo>
                  <a:pt x="13380965" y="8239375"/>
                </a:moveTo>
                <a:lnTo>
                  <a:pt x="0" y="8239375"/>
                </a:lnTo>
                <a:lnTo>
                  <a:pt x="0" y="0"/>
                </a:lnTo>
                <a:lnTo>
                  <a:pt x="13380965" y="0"/>
                </a:lnTo>
                <a:lnTo>
                  <a:pt x="13380965" y="823937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726690" y="1895869"/>
            <a:ext cx="8834621" cy="8391131"/>
            <a:chOff x="0" y="0"/>
            <a:chExt cx="2326814" cy="22100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26814" cy="2210010"/>
            </a:xfrm>
            <a:custGeom>
              <a:avLst/>
              <a:gdLst/>
              <a:ahLst/>
              <a:cxnLst/>
              <a:rect r="r" b="b" t="t" l="l"/>
              <a:pathLst>
                <a:path h="2210010" w="2326814">
                  <a:moveTo>
                    <a:pt x="56084" y="0"/>
                  </a:moveTo>
                  <a:lnTo>
                    <a:pt x="2270730" y="0"/>
                  </a:lnTo>
                  <a:cubicBezTo>
                    <a:pt x="2301704" y="0"/>
                    <a:pt x="2326814" y="25110"/>
                    <a:pt x="2326814" y="56084"/>
                  </a:cubicBezTo>
                  <a:lnTo>
                    <a:pt x="2326814" y="2153926"/>
                  </a:lnTo>
                  <a:cubicBezTo>
                    <a:pt x="2326814" y="2168800"/>
                    <a:pt x="2320905" y="2183065"/>
                    <a:pt x="2310387" y="2193583"/>
                  </a:cubicBezTo>
                  <a:cubicBezTo>
                    <a:pt x="2299869" y="2204101"/>
                    <a:pt x="2285604" y="2210010"/>
                    <a:pt x="2270730" y="2210010"/>
                  </a:cubicBezTo>
                  <a:lnTo>
                    <a:pt x="56084" y="2210010"/>
                  </a:lnTo>
                  <a:cubicBezTo>
                    <a:pt x="25110" y="2210010"/>
                    <a:pt x="0" y="2184900"/>
                    <a:pt x="0" y="2153926"/>
                  </a:cubicBezTo>
                  <a:lnTo>
                    <a:pt x="0" y="56084"/>
                  </a:lnTo>
                  <a:cubicBezTo>
                    <a:pt x="0" y="25110"/>
                    <a:pt x="25110" y="0"/>
                    <a:pt x="56084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326814" cy="22576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3302853" y="3442396"/>
            <a:ext cx="5136083" cy="6124537"/>
          </a:xfrm>
          <a:custGeom>
            <a:avLst/>
            <a:gdLst/>
            <a:ahLst/>
            <a:cxnLst/>
            <a:rect r="r" b="b" t="t" l="l"/>
            <a:pathLst>
              <a:path h="6124537" w="5136083">
                <a:moveTo>
                  <a:pt x="0" y="0"/>
                </a:moveTo>
                <a:lnTo>
                  <a:pt x="5136083" y="0"/>
                </a:lnTo>
                <a:lnTo>
                  <a:pt x="5136083" y="6124537"/>
                </a:lnTo>
                <a:lnTo>
                  <a:pt x="0" y="61245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16445" y="1410070"/>
            <a:ext cx="3113213" cy="4064652"/>
          </a:xfrm>
          <a:custGeom>
            <a:avLst/>
            <a:gdLst/>
            <a:ahLst/>
            <a:cxnLst/>
            <a:rect r="r" b="b" t="t" l="l"/>
            <a:pathLst>
              <a:path h="4064652" w="3113213">
                <a:moveTo>
                  <a:pt x="0" y="0"/>
                </a:moveTo>
                <a:lnTo>
                  <a:pt x="3113213" y="0"/>
                </a:lnTo>
                <a:lnTo>
                  <a:pt x="3113213" y="4064652"/>
                </a:lnTo>
                <a:lnTo>
                  <a:pt x="0" y="40646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825522" y="359806"/>
            <a:ext cx="14636957" cy="1050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70"/>
              </a:lnSpc>
            </a:pPr>
            <a:r>
              <a:rPr lang="en-US" b="true" sz="8179">
                <a:solidFill>
                  <a:srgbClr val="3B449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CƠ SỞ DỮ LIỆU PHÂN TÁN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92608" y="2252859"/>
            <a:ext cx="7302783" cy="767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19"/>
              </a:lnSpc>
            </a:pPr>
            <a:r>
              <a:rPr lang="en-US" b="true" sz="393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❌ Hạn chế hệ thống tập trung:</a:t>
            </a:r>
          </a:p>
          <a:p>
            <a:pPr algn="ctr" marL="0" indent="0" lvl="0">
              <a:lnSpc>
                <a:spcPts val="4719"/>
              </a:lnSpc>
            </a:pPr>
            <a:r>
              <a:rPr lang="en-US" b="true" sz="393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 Phụ thuộc vào một máy chủ duy nhất</a:t>
            </a:r>
          </a:p>
          <a:p>
            <a:pPr algn="ctr" marL="0" indent="0" lvl="0">
              <a:lnSpc>
                <a:spcPts val="4719"/>
              </a:lnSpc>
            </a:pPr>
            <a:r>
              <a:rPr lang="en-US" b="true" sz="393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 Dễ gây nghẽn mạng</a:t>
            </a:r>
          </a:p>
          <a:p>
            <a:pPr algn="ctr" marL="0" indent="0" lvl="0">
              <a:lnSpc>
                <a:spcPts val="4719"/>
              </a:lnSpc>
            </a:pPr>
            <a:r>
              <a:rPr lang="en-US" b="true" sz="393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 Khó mở rộng quy mô</a:t>
            </a:r>
          </a:p>
          <a:p>
            <a:pPr algn="ctr" marL="0" indent="0" lvl="0">
              <a:lnSpc>
                <a:spcPts val="4719"/>
              </a:lnSpc>
            </a:pPr>
            <a:r>
              <a:rPr lang="en-US" b="true" sz="393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✓ Lợi ích CSDL phân tán:</a:t>
            </a:r>
          </a:p>
          <a:p>
            <a:pPr algn="ctr" marL="0" indent="0" lvl="0">
              <a:lnSpc>
                <a:spcPts val="4719"/>
              </a:lnSpc>
            </a:pPr>
            <a:r>
              <a:rPr lang="en-US" b="true" sz="393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✓ Tăng hiệu năng xử lý</a:t>
            </a:r>
          </a:p>
          <a:p>
            <a:pPr algn="ctr" marL="0" indent="0" lvl="0">
              <a:lnSpc>
                <a:spcPts val="4719"/>
              </a:lnSpc>
            </a:pPr>
            <a:r>
              <a:rPr lang="en-US" b="true" sz="393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✓ Giảm tải cho mạng</a:t>
            </a:r>
          </a:p>
          <a:p>
            <a:pPr algn="ctr" marL="0" indent="0" lvl="0">
              <a:lnSpc>
                <a:spcPts val="4719"/>
              </a:lnSpc>
            </a:pPr>
            <a:r>
              <a:rPr lang="en-US" b="true" sz="393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✓ Dễ dàng mở rộng</a:t>
            </a:r>
          </a:p>
          <a:p>
            <a:pPr algn="ctr" marL="0" indent="0" lvl="0">
              <a:lnSpc>
                <a:spcPts val="4719"/>
              </a:lnSpc>
            </a:pPr>
            <a:r>
              <a:rPr lang="en-US" b="true" sz="393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✓ Tăng tính sẵn sàng hệ thống</a:t>
            </a:r>
          </a:p>
          <a:p>
            <a:pPr algn="ctr" marL="0" indent="0" lvl="0">
              <a:lnSpc>
                <a:spcPts val="4719"/>
              </a:lnSpc>
            </a:pPr>
            <a:r>
              <a:rPr lang="en-US" b="true" sz="393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✓ Hỗ trợ nhiều chi nhánh cùng lúc</a:t>
            </a:r>
          </a:p>
        </p:txBody>
      </p:sp>
    </p:spTree>
  </p:cSld>
  <p:clrMapOvr>
    <a:masterClrMapping/>
  </p:clrMapOvr>
  <p:transition spd="fast">
    <p:circl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970892">
            <a:off x="-3602495" y="-3363262"/>
            <a:ext cx="13380965" cy="8239375"/>
          </a:xfrm>
          <a:custGeom>
            <a:avLst/>
            <a:gdLst/>
            <a:ahLst/>
            <a:cxnLst/>
            <a:rect r="r" b="b" t="t" l="l"/>
            <a:pathLst>
              <a:path h="8239375" w="13380965">
                <a:moveTo>
                  <a:pt x="13380965" y="8239375"/>
                </a:moveTo>
                <a:lnTo>
                  <a:pt x="0" y="8239375"/>
                </a:lnTo>
                <a:lnTo>
                  <a:pt x="0" y="0"/>
                </a:lnTo>
                <a:lnTo>
                  <a:pt x="13380965" y="0"/>
                </a:lnTo>
                <a:lnTo>
                  <a:pt x="13380965" y="823937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970892">
            <a:off x="9636625" y="-3090988"/>
            <a:ext cx="13380965" cy="8239375"/>
          </a:xfrm>
          <a:custGeom>
            <a:avLst/>
            <a:gdLst/>
            <a:ahLst/>
            <a:cxnLst/>
            <a:rect r="r" b="b" t="t" l="l"/>
            <a:pathLst>
              <a:path h="8239375" w="13380965">
                <a:moveTo>
                  <a:pt x="0" y="8239376"/>
                </a:moveTo>
                <a:lnTo>
                  <a:pt x="13380965" y="8239376"/>
                </a:lnTo>
                <a:lnTo>
                  <a:pt x="13380965" y="0"/>
                </a:lnTo>
                <a:lnTo>
                  <a:pt x="0" y="0"/>
                </a:lnTo>
                <a:lnTo>
                  <a:pt x="0" y="82393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076660" y="5752936"/>
            <a:ext cx="11377756" cy="4192235"/>
            <a:chOff x="0" y="0"/>
            <a:chExt cx="2996611" cy="11041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96611" cy="1104128"/>
            </a:xfrm>
            <a:custGeom>
              <a:avLst/>
              <a:gdLst/>
              <a:ahLst/>
              <a:cxnLst/>
              <a:rect r="r" b="b" t="t" l="l"/>
              <a:pathLst>
                <a:path h="1104128" w="2996611">
                  <a:moveTo>
                    <a:pt x="43548" y="0"/>
                  </a:moveTo>
                  <a:lnTo>
                    <a:pt x="2953062" y="0"/>
                  </a:lnTo>
                  <a:cubicBezTo>
                    <a:pt x="2977113" y="0"/>
                    <a:pt x="2996611" y="19497"/>
                    <a:pt x="2996611" y="43548"/>
                  </a:cubicBezTo>
                  <a:lnTo>
                    <a:pt x="2996611" y="1060579"/>
                  </a:lnTo>
                  <a:cubicBezTo>
                    <a:pt x="2996611" y="1072129"/>
                    <a:pt x="2992022" y="1083206"/>
                    <a:pt x="2983855" y="1091373"/>
                  </a:cubicBezTo>
                  <a:cubicBezTo>
                    <a:pt x="2975689" y="1099540"/>
                    <a:pt x="2964612" y="1104128"/>
                    <a:pt x="2953062" y="1104128"/>
                  </a:cubicBezTo>
                  <a:lnTo>
                    <a:pt x="43548" y="1104128"/>
                  </a:lnTo>
                  <a:cubicBezTo>
                    <a:pt x="31999" y="1104128"/>
                    <a:pt x="20922" y="1099540"/>
                    <a:pt x="12755" y="1091373"/>
                  </a:cubicBezTo>
                  <a:cubicBezTo>
                    <a:pt x="4588" y="1083206"/>
                    <a:pt x="0" y="1072129"/>
                    <a:pt x="0" y="1060579"/>
                  </a:cubicBezTo>
                  <a:lnTo>
                    <a:pt x="0" y="43548"/>
                  </a:lnTo>
                  <a:cubicBezTo>
                    <a:pt x="0" y="31999"/>
                    <a:pt x="4588" y="20922"/>
                    <a:pt x="12755" y="12755"/>
                  </a:cubicBezTo>
                  <a:cubicBezTo>
                    <a:pt x="20922" y="4588"/>
                    <a:pt x="31999" y="0"/>
                    <a:pt x="43548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996611" cy="11517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1350779">
            <a:off x="-1371160" y="9031266"/>
            <a:ext cx="4237647" cy="2943238"/>
          </a:xfrm>
          <a:custGeom>
            <a:avLst/>
            <a:gdLst/>
            <a:ahLst/>
            <a:cxnLst/>
            <a:rect r="r" b="b" t="t" l="l"/>
            <a:pathLst>
              <a:path h="2943238" w="4237647">
                <a:moveTo>
                  <a:pt x="0" y="0"/>
                </a:moveTo>
                <a:lnTo>
                  <a:pt x="4237647" y="0"/>
                </a:lnTo>
                <a:lnTo>
                  <a:pt x="4237647" y="2943238"/>
                </a:lnTo>
                <a:lnTo>
                  <a:pt x="0" y="2943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-2584375">
            <a:off x="15542757" y="8091604"/>
            <a:ext cx="4237647" cy="2943238"/>
          </a:xfrm>
          <a:custGeom>
            <a:avLst/>
            <a:gdLst/>
            <a:ahLst/>
            <a:cxnLst/>
            <a:rect r="r" b="b" t="t" l="l"/>
            <a:pathLst>
              <a:path h="2943238" w="4237647">
                <a:moveTo>
                  <a:pt x="0" y="0"/>
                </a:moveTo>
                <a:lnTo>
                  <a:pt x="4237647" y="0"/>
                </a:lnTo>
                <a:lnTo>
                  <a:pt x="4237647" y="2943238"/>
                </a:lnTo>
                <a:lnTo>
                  <a:pt x="0" y="2943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0988543" y="2160545"/>
            <a:ext cx="6062202" cy="3061412"/>
          </a:xfrm>
          <a:custGeom>
            <a:avLst/>
            <a:gdLst/>
            <a:ahLst/>
            <a:cxnLst/>
            <a:rect r="r" b="b" t="t" l="l"/>
            <a:pathLst>
              <a:path h="3061412" w="6062202">
                <a:moveTo>
                  <a:pt x="0" y="0"/>
                </a:moveTo>
                <a:lnTo>
                  <a:pt x="6062202" y="0"/>
                </a:lnTo>
                <a:lnTo>
                  <a:pt x="6062202" y="3061412"/>
                </a:lnTo>
                <a:lnTo>
                  <a:pt x="0" y="30614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03818" y="2370095"/>
            <a:ext cx="12333760" cy="2227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22"/>
              </a:lnSpc>
            </a:pPr>
            <a:r>
              <a:rPr lang="en-US" b="true" sz="8971">
                <a:solidFill>
                  <a:srgbClr val="3B449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KIẾN TRÚC HỆ THỐNG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58859" y="6424449"/>
            <a:ext cx="9747956" cy="242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92"/>
              </a:lnSpc>
            </a:pPr>
            <a:r>
              <a:rPr lang="en-US" b="true" sz="324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VM1 – Hà Nội: SQL Server 2022, NganHang_HN, Publisher + Distributor</a:t>
            </a:r>
          </a:p>
          <a:p>
            <a:pPr algn="l" marL="0" indent="0" lvl="0">
              <a:lnSpc>
                <a:spcPts val="3892"/>
              </a:lnSpc>
            </a:pPr>
            <a:r>
              <a:rPr lang="en-US" b="true" sz="324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VM2 – TP.HCM: SQL Server 2022, NganHang_HCM, Subscriber</a:t>
            </a:r>
          </a:p>
          <a:p>
            <a:pPr algn="l" marL="0" indent="0" lvl="0">
              <a:lnSpc>
                <a:spcPts val="3892"/>
              </a:lnSpc>
            </a:pPr>
            <a:r>
              <a:rPr lang="en-US" b="true" sz="324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Kết nối: VMware NAT Network · TCP/IP Port 1433</a:t>
            </a:r>
          </a:p>
        </p:txBody>
      </p:sp>
    </p:spTree>
  </p:cSld>
  <p:clrMapOvr>
    <a:masterClrMapping/>
  </p:clrMapOvr>
  <p:transition spd="fast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074628">
            <a:off x="-6071469" y="4886347"/>
            <a:ext cx="14200338" cy="8743907"/>
          </a:xfrm>
          <a:custGeom>
            <a:avLst/>
            <a:gdLst/>
            <a:ahLst/>
            <a:cxnLst/>
            <a:rect r="r" b="b" t="t" l="l"/>
            <a:pathLst>
              <a:path h="8743907" w="14200338">
                <a:moveTo>
                  <a:pt x="0" y="0"/>
                </a:moveTo>
                <a:lnTo>
                  <a:pt x="14200338" y="0"/>
                </a:lnTo>
                <a:lnTo>
                  <a:pt x="14200338" y="8743906"/>
                </a:lnTo>
                <a:lnTo>
                  <a:pt x="0" y="87439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true" flipV="true" rot="970892">
            <a:off x="-3602495" y="-3363262"/>
            <a:ext cx="13380965" cy="8239375"/>
          </a:xfrm>
          <a:custGeom>
            <a:avLst/>
            <a:gdLst/>
            <a:ahLst/>
            <a:cxnLst/>
            <a:rect r="r" b="b" t="t" l="l"/>
            <a:pathLst>
              <a:path h="8239375" w="13380965">
                <a:moveTo>
                  <a:pt x="13380965" y="8239375"/>
                </a:moveTo>
                <a:lnTo>
                  <a:pt x="0" y="8239375"/>
                </a:lnTo>
                <a:lnTo>
                  <a:pt x="0" y="0"/>
                </a:lnTo>
                <a:lnTo>
                  <a:pt x="13380965" y="0"/>
                </a:lnTo>
                <a:lnTo>
                  <a:pt x="13380965" y="823937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951826">
            <a:off x="15935474" y="-1031100"/>
            <a:ext cx="4100007" cy="4122493"/>
          </a:xfrm>
          <a:custGeom>
            <a:avLst/>
            <a:gdLst/>
            <a:ahLst/>
            <a:cxnLst/>
            <a:rect r="r" b="b" t="t" l="l"/>
            <a:pathLst>
              <a:path h="4122493" w="4100007">
                <a:moveTo>
                  <a:pt x="0" y="0"/>
                </a:moveTo>
                <a:lnTo>
                  <a:pt x="4100006" y="0"/>
                </a:lnTo>
                <a:lnTo>
                  <a:pt x="4100006" y="4122493"/>
                </a:lnTo>
                <a:lnTo>
                  <a:pt x="0" y="41224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602168" y="596745"/>
            <a:ext cx="13663558" cy="1063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94"/>
              </a:lnSpc>
            </a:pPr>
            <a:r>
              <a:rPr lang="en-US" b="true" sz="8309">
                <a:solidFill>
                  <a:srgbClr val="3B449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THIẾT KẾ CƠ SỞ DỮ LIỆU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2962744" cy="2244828"/>
          </a:xfrm>
          <a:custGeom>
            <a:avLst/>
            <a:gdLst/>
            <a:ahLst/>
            <a:cxnLst/>
            <a:rect r="r" b="b" t="t" l="l"/>
            <a:pathLst>
              <a:path h="2244828" w="2962744">
                <a:moveTo>
                  <a:pt x="0" y="0"/>
                </a:moveTo>
                <a:lnTo>
                  <a:pt x="2962744" y="0"/>
                </a:lnTo>
                <a:lnTo>
                  <a:pt x="2962744" y="2244828"/>
                </a:lnTo>
                <a:lnTo>
                  <a:pt x="0" y="22448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81372" y="2244828"/>
            <a:ext cx="16137387" cy="7080279"/>
          </a:xfrm>
          <a:custGeom>
            <a:avLst/>
            <a:gdLst/>
            <a:ahLst/>
            <a:cxnLst/>
            <a:rect r="r" b="b" t="t" l="l"/>
            <a:pathLst>
              <a:path h="7080279" w="16137387">
                <a:moveTo>
                  <a:pt x="0" y="0"/>
                </a:moveTo>
                <a:lnTo>
                  <a:pt x="16137387" y="0"/>
                </a:lnTo>
                <a:lnTo>
                  <a:pt x="16137387" y="7080278"/>
                </a:lnTo>
                <a:lnTo>
                  <a:pt x="0" y="70802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483349" y="7834946"/>
            <a:ext cx="8356297" cy="221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55"/>
              </a:lnSpc>
              <a:spcBef>
                <a:spcPct val="0"/>
              </a:spcBef>
            </a:pPr>
            <a:r>
              <a:rPr lang="en-US" b="true" sz="246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Các bảng chính trong hệ thống:</a:t>
            </a:r>
          </a:p>
          <a:p>
            <a:pPr algn="l" marL="0" indent="0" lvl="0">
              <a:lnSpc>
                <a:spcPts val="2955"/>
              </a:lnSpc>
              <a:spcBef>
                <a:spcPct val="0"/>
              </a:spcBef>
            </a:pPr>
            <a:r>
              <a:rPr lang="en-US" b="true" sz="246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 ChiNhanh: Thông tin chi nhánh</a:t>
            </a:r>
          </a:p>
          <a:p>
            <a:pPr algn="l" marL="0" indent="0" lvl="0">
              <a:lnSpc>
                <a:spcPts val="2955"/>
              </a:lnSpc>
              <a:spcBef>
                <a:spcPct val="0"/>
              </a:spcBef>
            </a:pPr>
            <a:r>
              <a:rPr lang="en-US" b="true" sz="246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 KhachHang: Thông tin khách hàng</a:t>
            </a:r>
          </a:p>
          <a:p>
            <a:pPr algn="l" marL="0" indent="0" lvl="0">
              <a:lnSpc>
                <a:spcPts val="2955"/>
              </a:lnSpc>
              <a:spcBef>
                <a:spcPct val="0"/>
              </a:spcBef>
            </a:pPr>
            <a:r>
              <a:rPr lang="en-US" b="true" sz="246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 TaiKhoan: Quản lý tài khoản</a:t>
            </a:r>
          </a:p>
          <a:p>
            <a:pPr algn="l" marL="0" indent="0" lvl="0">
              <a:lnSpc>
                <a:spcPts val="2955"/>
              </a:lnSpc>
              <a:spcBef>
                <a:spcPct val="0"/>
              </a:spcBef>
            </a:pPr>
            <a:r>
              <a:rPr lang="en-US" b="true" sz="246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 GiaoDich: Lịch sử giao dịch</a:t>
            </a:r>
          </a:p>
          <a:p>
            <a:pPr algn="l" marL="0" indent="0" lvl="0">
              <a:lnSpc>
                <a:spcPts val="2955"/>
              </a:lnSpc>
              <a:spcBef>
                <a:spcPct val="0"/>
              </a:spcBef>
            </a:pPr>
            <a:r>
              <a:rPr lang="en-US" b="true" sz="246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 NhanVien: Thông tin nhân viên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399559">
            <a:off x="-6483724" y="4295209"/>
            <a:ext cx="14200338" cy="8743907"/>
          </a:xfrm>
          <a:custGeom>
            <a:avLst/>
            <a:gdLst/>
            <a:ahLst/>
            <a:cxnLst/>
            <a:rect r="r" b="b" t="t" l="l"/>
            <a:pathLst>
              <a:path h="8743907" w="14200338">
                <a:moveTo>
                  <a:pt x="0" y="0"/>
                </a:moveTo>
                <a:lnTo>
                  <a:pt x="14200339" y="0"/>
                </a:lnTo>
                <a:lnTo>
                  <a:pt x="14200339" y="8743907"/>
                </a:lnTo>
                <a:lnTo>
                  <a:pt x="0" y="87439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true" flipV="true" rot="2700000">
            <a:off x="13324886" y="-2505332"/>
            <a:ext cx="13380965" cy="8239375"/>
          </a:xfrm>
          <a:custGeom>
            <a:avLst/>
            <a:gdLst/>
            <a:ahLst/>
            <a:cxnLst/>
            <a:rect r="r" b="b" t="t" l="l"/>
            <a:pathLst>
              <a:path h="8239375" w="13380965">
                <a:moveTo>
                  <a:pt x="13380965" y="8239375"/>
                </a:moveTo>
                <a:lnTo>
                  <a:pt x="0" y="8239375"/>
                </a:lnTo>
                <a:lnTo>
                  <a:pt x="0" y="0"/>
                </a:lnTo>
                <a:lnTo>
                  <a:pt x="13380965" y="0"/>
                </a:lnTo>
                <a:lnTo>
                  <a:pt x="13380965" y="823937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58269">
            <a:off x="-386262" y="164866"/>
            <a:ext cx="4483194" cy="2397504"/>
          </a:xfrm>
          <a:custGeom>
            <a:avLst/>
            <a:gdLst/>
            <a:ahLst/>
            <a:cxnLst/>
            <a:rect r="r" b="b" t="t" l="l"/>
            <a:pathLst>
              <a:path h="2397504" w="4483194">
                <a:moveTo>
                  <a:pt x="0" y="0"/>
                </a:moveTo>
                <a:lnTo>
                  <a:pt x="4483195" y="0"/>
                </a:lnTo>
                <a:lnTo>
                  <a:pt x="4483195" y="2397504"/>
                </a:lnTo>
                <a:lnTo>
                  <a:pt x="0" y="23975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458444">
            <a:off x="16052733" y="8431321"/>
            <a:ext cx="2929817" cy="2794714"/>
          </a:xfrm>
          <a:custGeom>
            <a:avLst/>
            <a:gdLst/>
            <a:ahLst/>
            <a:cxnLst/>
            <a:rect r="r" b="b" t="t" l="l"/>
            <a:pathLst>
              <a:path h="2794714" w="2929817">
                <a:moveTo>
                  <a:pt x="0" y="0"/>
                </a:moveTo>
                <a:lnTo>
                  <a:pt x="2929817" y="0"/>
                </a:lnTo>
                <a:lnTo>
                  <a:pt x="2929817" y="2794714"/>
                </a:lnTo>
                <a:lnTo>
                  <a:pt x="0" y="27947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156441" y="2278720"/>
            <a:ext cx="14214451" cy="6538647"/>
          </a:xfrm>
          <a:custGeom>
            <a:avLst/>
            <a:gdLst/>
            <a:ahLst/>
            <a:cxnLst/>
            <a:rect r="r" b="b" t="t" l="l"/>
            <a:pathLst>
              <a:path h="6538647" w="14214451">
                <a:moveTo>
                  <a:pt x="0" y="0"/>
                </a:moveTo>
                <a:lnTo>
                  <a:pt x="14214451" y="0"/>
                </a:lnTo>
                <a:lnTo>
                  <a:pt x="14214451" y="6538647"/>
                </a:lnTo>
                <a:lnTo>
                  <a:pt x="0" y="65386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372727" y="596745"/>
            <a:ext cx="11998166" cy="1063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94"/>
              </a:lnSpc>
            </a:pPr>
            <a:r>
              <a:rPr lang="en-US" b="true" sz="8309">
                <a:solidFill>
                  <a:srgbClr val="3B449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PHÂN MẢNH DỮ LIỆU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72727" y="7937358"/>
            <a:ext cx="8874127" cy="209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13"/>
              </a:lnSpc>
            </a:pPr>
            <a:r>
              <a:rPr lang="en-US" sz="276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Hà Nội: KH_HN, TK_HN, GD_HN</a:t>
            </a:r>
          </a:p>
          <a:p>
            <a:pPr algn="l" marL="0" indent="0" lvl="0">
              <a:lnSpc>
                <a:spcPts val="3313"/>
              </a:lnSpc>
            </a:pPr>
            <a:r>
              <a:rPr lang="en-US" sz="276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TP.HCM: KH_HCM, TK_HCM, GD_HCM</a:t>
            </a:r>
          </a:p>
          <a:p>
            <a:pPr algn="l" marL="0" indent="0" lvl="0">
              <a:lnSpc>
                <a:spcPts val="3313"/>
              </a:lnSpc>
            </a:pPr>
            <a:r>
              <a:rPr lang="en-US" sz="276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Bảng ChiNhanh: Replication toàn bộ</a:t>
            </a:r>
          </a:p>
          <a:p>
            <a:pPr algn="l" marL="0" indent="0" lvl="0">
              <a:lnSpc>
                <a:spcPts val="3313"/>
              </a:lnSpc>
            </a:pPr>
            <a:r>
              <a:rPr lang="en-US" sz="276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✓ Truy vấn nhanh hơn</a:t>
            </a:r>
          </a:p>
          <a:p>
            <a:pPr algn="l" marL="0" indent="0" lvl="0">
              <a:lnSpc>
                <a:spcPts val="3313"/>
              </a:lnSpc>
            </a:pPr>
            <a:r>
              <a:rPr lang="en-US" sz="276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✓ Giảm truy cập chéo site, tăng hiệu suất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970892">
            <a:off x="-4094284" y="-3463478"/>
            <a:ext cx="12418754" cy="7646890"/>
          </a:xfrm>
          <a:custGeom>
            <a:avLst/>
            <a:gdLst/>
            <a:ahLst/>
            <a:cxnLst/>
            <a:rect r="r" b="b" t="t" l="l"/>
            <a:pathLst>
              <a:path h="7646890" w="12418754">
                <a:moveTo>
                  <a:pt x="12418753" y="7646890"/>
                </a:moveTo>
                <a:lnTo>
                  <a:pt x="0" y="7646890"/>
                </a:lnTo>
                <a:lnTo>
                  <a:pt x="0" y="0"/>
                </a:lnTo>
                <a:lnTo>
                  <a:pt x="12418753" y="0"/>
                </a:lnTo>
                <a:lnTo>
                  <a:pt x="12418753" y="764689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970892">
            <a:off x="9636625" y="-3090988"/>
            <a:ext cx="13380965" cy="8239375"/>
          </a:xfrm>
          <a:custGeom>
            <a:avLst/>
            <a:gdLst/>
            <a:ahLst/>
            <a:cxnLst/>
            <a:rect r="r" b="b" t="t" l="l"/>
            <a:pathLst>
              <a:path h="8239375" w="13380965">
                <a:moveTo>
                  <a:pt x="0" y="8239376"/>
                </a:moveTo>
                <a:lnTo>
                  <a:pt x="13380965" y="8239376"/>
                </a:lnTo>
                <a:lnTo>
                  <a:pt x="13380965" y="0"/>
                </a:lnTo>
                <a:lnTo>
                  <a:pt x="0" y="0"/>
                </a:lnTo>
                <a:lnTo>
                  <a:pt x="0" y="82393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350779">
            <a:off x="-1371160" y="9031266"/>
            <a:ext cx="4237647" cy="2943238"/>
          </a:xfrm>
          <a:custGeom>
            <a:avLst/>
            <a:gdLst/>
            <a:ahLst/>
            <a:cxnLst/>
            <a:rect r="r" b="b" t="t" l="l"/>
            <a:pathLst>
              <a:path h="2943238" w="4237647">
                <a:moveTo>
                  <a:pt x="0" y="0"/>
                </a:moveTo>
                <a:lnTo>
                  <a:pt x="4237647" y="0"/>
                </a:lnTo>
                <a:lnTo>
                  <a:pt x="4237647" y="2943238"/>
                </a:lnTo>
                <a:lnTo>
                  <a:pt x="0" y="2943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2584375">
            <a:off x="15542757" y="8091604"/>
            <a:ext cx="4237647" cy="2943238"/>
          </a:xfrm>
          <a:custGeom>
            <a:avLst/>
            <a:gdLst/>
            <a:ahLst/>
            <a:cxnLst/>
            <a:rect r="r" b="b" t="t" l="l"/>
            <a:pathLst>
              <a:path h="2943238" w="4237647">
                <a:moveTo>
                  <a:pt x="0" y="0"/>
                </a:moveTo>
                <a:lnTo>
                  <a:pt x="4237647" y="0"/>
                </a:lnTo>
                <a:lnTo>
                  <a:pt x="4237647" y="2943238"/>
                </a:lnTo>
                <a:lnTo>
                  <a:pt x="0" y="2943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4134071" y="351758"/>
            <a:ext cx="11551391" cy="1151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22"/>
              </a:lnSpc>
            </a:pPr>
            <a:r>
              <a:rPr lang="en-US" b="true" sz="8971">
                <a:solidFill>
                  <a:srgbClr val="3B449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LINKED SERVER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471557" y="243352"/>
            <a:ext cx="2855550" cy="1158884"/>
          </a:xfrm>
          <a:custGeom>
            <a:avLst/>
            <a:gdLst/>
            <a:ahLst/>
            <a:cxnLst/>
            <a:rect r="r" b="b" t="t" l="l"/>
            <a:pathLst>
              <a:path h="1158884" w="2855550">
                <a:moveTo>
                  <a:pt x="0" y="0"/>
                </a:moveTo>
                <a:lnTo>
                  <a:pt x="2855550" y="0"/>
                </a:lnTo>
                <a:lnTo>
                  <a:pt x="2855550" y="1158884"/>
                </a:lnTo>
                <a:lnTo>
                  <a:pt x="0" y="11588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115093" y="1709286"/>
            <a:ext cx="14466537" cy="10723320"/>
          </a:xfrm>
          <a:custGeom>
            <a:avLst/>
            <a:gdLst/>
            <a:ahLst/>
            <a:cxnLst/>
            <a:rect r="r" b="b" t="t" l="l"/>
            <a:pathLst>
              <a:path h="10723320" w="14466537">
                <a:moveTo>
                  <a:pt x="0" y="0"/>
                </a:moveTo>
                <a:lnTo>
                  <a:pt x="14466536" y="0"/>
                </a:lnTo>
                <a:lnTo>
                  <a:pt x="14466536" y="10723321"/>
                </a:lnTo>
                <a:lnTo>
                  <a:pt x="0" y="107233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074628">
            <a:off x="-6071469" y="4886347"/>
            <a:ext cx="14200338" cy="8743907"/>
          </a:xfrm>
          <a:custGeom>
            <a:avLst/>
            <a:gdLst/>
            <a:ahLst/>
            <a:cxnLst/>
            <a:rect r="r" b="b" t="t" l="l"/>
            <a:pathLst>
              <a:path h="8743907" w="14200338">
                <a:moveTo>
                  <a:pt x="0" y="0"/>
                </a:moveTo>
                <a:lnTo>
                  <a:pt x="14200338" y="0"/>
                </a:lnTo>
                <a:lnTo>
                  <a:pt x="14200338" y="8743906"/>
                </a:lnTo>
                <a:lnTo>
                  <a:pt x="0" y="87439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true" flipV="true" rot="970892">
            <a:off x="-3602495" y="-3363262"/>
            <a:ext cx="13380965" cy="8239375"/>
          </a:xfrm>
          <a:custGeom>
            <a:avLst/>
            <a:gdLst/>
            <a:ahLst/>
            <a:cxnLst/>
            <a:rect r="r" b="b" t="t" l="l"/>
            <a:pathLst>
              <a:path h="8239375" w="13380965">
                <a:moveTo>
                  <a:pt x="13380965" y="8239375"/>
                </a:moveTo>
                <a:lnTo>
                  <a:pt x="0" y="8239375"/>
                </a:lnTo>
                <a:lnTo>
                  <a:pt x="0" y="0"/>
                </a:lnTo>
                <a:lnTo>
                  <a:pt x="13380965" y="0"/>
                </a:lnTo>
                <a:lnTo>
                  <a:pt x="13380965" y="823937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951826">
            <a:off x="15935474" y="-1031100"/>
            <a:ext cx="4100007" cy="4122493"/>
          </a:xfrm>
          <a:custGeom>
            <a:avLst/>
            <a:gdLst/>
            <a:ahLst/>
            <a:cxnLst/>
            <a:rect r="r" b="b" t="t" l="l"/>
            <a:pathLst>
              <a:path h="4122493" w="4100007">
                <a:moveTo>
                  <a:pt x="0" y="0"/>
                </a:moveTo>
                <a:lnTo>
                  <a:pt x="4100006" y="0"/>
                </a:lnTo>
                <a:lnTo>
                  <a:pt x="4100006" y="4122493"/>
                </a:lnTo>
                <a:lnTo>
                  <a:pt x="0" y="41224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563914" y="4114749"/>
            <a:ext cx="5724086" cy="5910281"/>
          </a:xfrm>
          <a:custGeom>
            <a:avLst/>
            <a:gdLst/>
            <a:ahLst/>
            <a:cxnLst/>
            <a:rect r="r" b="b" t="t" l="l"/>
            <a:pathLst>
              <a:path h="5910281" w="5724086">
                <a:moveTo>
                  <a:pt x="0" y="0"/>
                </a:moveTo>
                <a:lnTo>
                  <a:pt x="5724086" y="0"/>
                </a:lnTo>
                <a:lnTo>
                  <a:pt x="5724086" y="5910281"/>
                </a:lnTo>
                <a:lnTo>
                  <a:pt x="0" y="59102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9234" t="0" r="-9234" b="-9736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50478" y="1135267"/>
            <a:ext cx="4336448" cy="5934622"/>
          </a:xfrm>
          <a:custGeom>
            <a:avLst/>
            <a:gdLst/>
            <a:ahLst/>
            <a:cxnLst/>
            <a:rect r="r" b="b" t="t" l="l"/>
            <a:pathLst>
              <a:path h="5934622" w="4336448">
                <a:moveTo>
                  <a:pt x="0" y="0"/>
                </a:moveTo>
                <a:lnTo>
                  <a:pt x="4336448" y="0"/>
                </a:lnTo>
                <a:lnTo>
                  <a:pt x="4336448" y="5934622"/>
                </a:lnTo>
                <a:lnTo>
                  <a:pt x="0" y="59346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024701" y="1184617"/>
            <a:ext cx="7203732" cy="1064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99"/>
              </a:lnSpc>
            </a:pPr>
            <a:r>
              <a:rPr lang="en-US" b="true" sz="8315">
                <a:solidFill>
                  <a:srgbClr val="3B449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REPLICATION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191626" y="7291355"/>
            <a:ext cx="8010710" cy="234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5"/>
              </a:lnSpc>
              <a:spcBef>
                <a:spcPct val="0"/>
              </a:spcBef>
            </a:pPr>
            <a:r>
              <a:rPr lang="en-US" b="true" sz="256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📌 Mô hình: Publisher → Distributor → Subscriber</a:t>
            </a:r>
          </a:p>
          <a:p>
            <a:pPr algn="l" marL="0" indent="0" lvl="0">
              <a:lnSpc>
                <a:spcPts val="3075"/>
              </a:lnSpc>
              <a:spcBef>
                <a:spcPct val="0"/>
              </a:spcBef>
            </a:pPr>
            <a:r>
              <a:rPr lang="en-US" b="true" sz="256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⚙️ Công nghệ: Transactional Replication – Chế độ Continuous</a:t>
            </a:r>
          </a:p>
          <a:p>
            <a:pPr algn="l" marL="0" indent="0" lvl="0">
              <a:lnSpc>
                <a:spcPts val="3075"/>
              </a:lnSpc>
              <a:spcBef>
                <a:spcPct val="0"/>
              </a:spcBef>
            </a:pPr>
            <a:r>
              <a:rPr lang="en-US" b="true" sz="256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✓ Đồng bộ dữ liệu tự động giữa các chi nhánh</a:t>
            </a:r>
          </a:p>
          <a:p>
            <a:pPr algn="l" marL="0" indent="0" lvl="0">
              <a:lnSpc>
                <a:spcPts val="3075"/>
              </a:lnSpc>
              <a:spcBef>
                <a:spcPct val="0"/>
              </a:spcBef>
            </a:pPr>
            <a:r>
              <a:rPr lang="en-US" b="true" sz="256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✓ Đảm bảo tính nhất quán dữ liệu</a:t>
            </a:r>
          </a:p>
          <a:p>
            <a:pPr algn="l" marL="0" indent="0" lvl="0">
              <a:lnSpc>
                <a:spcPts val="3075"/>
              </a:lnSpc>
              <a:spcBef>
                <a:spcPct val="0"/>
              </a:spcBef>
            </a:pPr>
            <a:r>
              <a:rPr lang="en-US" b="true" sz="256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✓ Giảm thao tác thủ công, nâng cao hiệu quả</a:t>
            </a:r>
          </a:p>
        </p:txBody>
      </p:sp>
    </p:spTree>
  </p:cSld>
  <p:clrMapOvr>
    <a:masterClrMapping/>
  </p:clrMapOvr>
  <p:transition spd="fast">
    <p:cover dir="d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970892">
            <a:off x="-3602495" y="-3363262"/>
            <a:ext cx="13380965" cy="8239375"/>
          </a:xfrm>
          <a:custGeom>
            <a:avLst/>
            <a:gdLst/>
            <a:ahLst/>
            <a:cxnLst/>
            <a:rect r="r" b="b" t="t" l="l"/>
            <a:pathLst>
              <a:path h="8239375" w="13380965">
                <a:moveTo>
                  <a:pt x="13380965" y="8239375"/>
                </a:moveTo>
                <a:lnTo>
                  <a:pt x="0" y="8239375"/>
                </a:lnTo>
                <a:lnTo>
                  <a:pt x="0" y="0"/>
                </a:lnTo>
                <a:lnTo>
                  <a:pt x="13380965" y="0"/>
                </a:lnTo>
                <a:lnTo>
                  <a:pt x="13380965" y="823937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970892">
            <a:off x="9636625" y="-3090988"/>
            <a:ext cx="13380965" cy="8239375"/>
          </a:xfrm>
          <a:custGeom>
            <a:avLst/>
            <a:gdLst/>
            <a:ahLst/>
            <a:cxnLst/>
            <a:rect r="r" b="b" t="t" l="l"/>
            <a:pathLst>
              <a:path h="8239375" w="13380965">
                <a:moveTo>
                  <a:pt x="0" y="8239376"/>
                </a:moveTo>
                <a:lnTo>
                  <a:pt x="13380965" y="8239376"/>
                </a:lnTo>
                <a:lnTo>
                  <a:pt x="13380965" y="0"/>
                </a:lnTo>
                <a:lnTo>
                  <a:pt x="0" y="0"/>
                </a:lnTo>
                <a:lnTo>
                  <a:pt x="0" y="82393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350779">
            <a:off x="-1371160" y="9031266"/>
            <a:ext cx="4237647" cy="2943238"/>
          </a:xfrm>
          <a:custGeom>
            <a:avLst/>
            <a:gdLst/>
            <a:ahLst/>
            <a:cxnLst/>
            <a:rect r="r" b="b" t="t" l="l"/>
            <a:pathLst>
              <a:path h="2943238" w="4237647">
                <a:moveTo>
                  <a:pt x="0" y="0"/>
                </a:moveTo>
                <a:lnTo>
                  <a:pt x="4237647" y="0"/>
                </a:lnTo>
                <a:lnTo>
                  <a:pt x="4237647" y="2943238"/>
                </a:lnTo>
                <a:lnTo>
                  <a:pt x="0" y="2943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2584375">
            <a:off x="15542757" y="8091604"/>
            <a:ext cx="4237647" cy="2943238"/>
          </a:xfrm>
          <a:custGeom>
            <a:avLst/>
            <a:gdLst/>
            <a:ahLst/>
            <a:cxnLst/>
            <a:rect r="r" b="b" t="t" l="l"/>
            <a:pathLst>
              <a:path h="2943238" w="4237647">
                <a:moveTo>
                  <a:pt x="0" y="0"/>
                </a:moveTo>
                <a:lnTo>
                  <a:pt x="4237647" y="0"/>
                </a:lnTo>
                <a:lnTo>
                  <a:pt x="4237647" y="2943238"/>
                </a:lnTo>
                <a:lnTo>
                  <a:pt x="0" y="2943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853799" y="1701567"/>
            <a:ext cx="15074570" cy="6482065"/>
          </a:xfrm>
          <a:custGeom>
            <a:avLst/>
            <a:gdLst/>
            <a:ahLst/>
            <a:cxnLst/>
            <a:rect r="r" b="b" t="t" l="l"/>
            <a:pathLst>
              <a:path h="6482065" w="15074570">
                <a:moveTo>
                  <a:pt x="0" y="0"/>
                </a:moveTo>
                <a:lnTo>
                  <a:pt x="15074569" y="0"/>
                </a:lnTo>
                <a:lnTo>
                  <a:pt x="15074569" y="6482065"/>
                </a:lnTo>
                <a:lnTo>
                  <a:pt x="0" y="64820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310124" y="427777"/>
            <a:ext cx="15149972" cy="1151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22"/>
              </a:lnSpc>
            </a:pPr>
            <a:r>
              <a:rPr lang="en-US" b="true" sz="8971">
                <a:solidFill>
                  <a:srgbClr val="3B449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KẾT QUẢ THỰC NGHIỆM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193250" y="8305800"/>
            <a:ext cx="9054608" cy="190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53"/>
              </a:lnSpc>
            </a:pPr>
            <a:r>
              <a:rPr lang="en-US" b="true" sz="312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✓ Hai site kết nối thành công  ✓ Linked Server hoạt động ổn định  ✓ Replication hiệu quả  ✓ Đồng bộ dữ liệu thành công  •  Thêm dữ liệu tại VM1 → Dữ liệu xuất hiện tại VM2</a:t>
            </a:r>
          </a:p>
        </p:txBody>
      </p:sp>
    </p:spTree>
  </p:cSld>
  <p:clrMapOvr>
    <a:masterClrMapping/>
  </p:clrMapOvr>
  <p:transition spd="fast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074628">
            <a:off x="-2112264" y="5745353"/>
            <a:ext cx="14200338" cy="8743907"/>
          </a:xfrm>
          <a:custGeom>
            <a:avLst/>
            <a:gdLst/>
            <a:ahLst/>
            <a:cxnLst/>
            <a:rect r="r" b="b" t="t" l="l"/>
            <a:pathLst>
              <a:path h="8743907" w="14200338">
                <a:moveTo>
                  <a:pt x="0" y="0"/>
                </a:moveTo>
                <a:lnTo>
                  <a:pt x="14200339" y="0"/>
                </a:lnTo>
                <a:lnTo>
                  <a:pt x="14200339" y="8743907"/>
                </a:lnTo>
                <a:lnTo>
                  <a:pt x="0" y="87439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true" flipV="true" rot="970892">
            <a:off x="-3602495" y="-3363262"/>
            <a:ext cx="13380965" cy="8239375"/>
          </a:xfrm>
          <a:custGeom>
            <a:avLst/>
            <a:gdLst/>
            <a:ahLst/>
            <a:cxnLst/>
            <a:rect r="r" b="b" t="t" l="l"/>
            <a:pathLst>
              <a:path h="8239375" w="13380965">
                <a:moveTo>
                  <a:pt x="13380965" y="8239375"/>
                </a:moveTo>
                <a:lnTo>
                  <a:pt x="0" y="8239375"/>
                </a:lnTo>
                <a:lnTo>
                  <a:pt x="0" y="0"/>
                </a:lnTo>
                <a:lnTo>
                  <a:pt x="13380965" y="0"/>
                </a:lnTo>
                <a:lnTo>
                  <a:pt x="13380965" y="823937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014053" y="6395996"/>
            <a:ext cx="10693188" cy="228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6"/>
              </a:lnSpc>
              <a:spcBef>
                <a:spcPct val="0"/>
              </a:spcBef>
            </a:pPr>
            <a:r>
              <a:rPr lang="en-US" b="true" sz="303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✓ Xây dựng thành công hệ thống ngân hàng đa chi nhánh</a:t>
            </a:r>
          </a:p>
          <a:p>
            <a:pPr algn="l" marL="0" indent="0" lvl="0">
              <a:lnSpc>
                <a:spcPts val="3636"/>
              </a:lnSpc>
              <a:spcBef>
                <a:spcPct val="0"/>
              </a:spcBef>
            </a:pPr>
            <a:r>
              <a:rPr lang="en-US" b="true" sz="303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✓ Áp dụng hiệu quả CSDL phân tán</a:t>
            </a:r>
          </a:p>
          <a:p>
            <a:pPr algn="l" marL="0" indent="0" lvl="0">
              <a:lnSpc>
                <a:spcPts val="3636"/>
              </a:lnSpc>
              <a:spcBef>
                <a:spcPct val="0"/>
              </a:spcBef>
            </a:pPr>
            <a:r>
              <a:rPr lang="en-US" b="true" sz="303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✓ Triển khai Linked Server &amp; Replication</a:t>
            </a:r>
          </a:p>
          <a:p>
            <a:pPr algn="l" marL="0" indent="0" lvl="0">
              <a:lnSpc>
                <a:spcPts val="3636"/>
              </a:lnSpc>
              <a:spcBef>
                <a:spcPct val="0"/>
              </a:spcBef>
            </a:pPr>
            <a:r>
              <a:rPr lang="en-US" b="true" sz="303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→ Hướng phát triển: Cloud, Web, phân quyền</a:t>
            </a:r>
          </a:p>
          <a:p>
            <a:pPr algn="l" marL="0" indent="0" lvl="0">
              <a:lnSpc>
                <a:spcPts val="3636"/>
              </a:lnSpc>
              <a:spcBef>
                <a:spcPct val="0"/>
              </a:spcBef>
            </a:pPr>
            <a:r>
              <a:rPr lang="en-US" b="true" sz="303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Xin chân thành cảm ơn!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12660" y="2315303"/>
            <a:ext cx="5677004" cy="5577656"/>
          </a:xfrm>
          <a:custGeom>
            <a:avLst/>
            <a:gdLst/>
            <a:ahLst/>
            <a:cxnLst/>
            <a:rect r="r" b="b" t="t" l="l"/>
            <a:pathLst>
              <a:path h="5577656" w="5677004">
                <a:moveTo>
                  <a:pt x="0" y="0"/>
                </a:moveTo>
                <a:lnTo>
                  <a:pt x="5677004" y="0"/>
                </a:lnTo>
                <a:lnTo>
                  <a:pt x="5677004" y="5577656"/>
                </a:lnTo>
                <a:lnTo>
                  <a:pt x="0" y="55776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240123" y="2809517"/>
            <a:ext cx="7203732" cy="1064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99"/>
              </a:lnSpc>
            </a:pPr>
            <a:r>
              <a:rPr lang="en-US" b="true" sz="8315">
                <a:solidFill>
                  <a:srgbClr val="3B449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KẾT LUẬN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735817" y="5342604"/>
            <a:ext cx="11249660" cy="4106815"/>
            <a:chOff x="0" y="0"/>
            <a:chExt cx="2505533" cy="91467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05533" cy="914673"/>
            </a:xfrm>
            <a:custGeom>
              <a:avLst/>
              <a:gdLst/>
              <a:ahLst/>
              <a:cxnLst/>
              <a:rect r="r" b="b" t="t" l="l"/>
              <a:pathLst>
                <a:path h="914673" w="2505533">
                  <a:moveTo>
                    <a:pt x="44044" y="0"/>
                  </a:moveTo>
                  <a:lnTo>
                    <a:pt x="2461489" y="0"/>
                  </a:lnTo>
                  <a:cubicBezTo>
                    <a:pt x="2473170" y="0"/>
                    <a:pt x="2484373" y="4640"/>
                    <a:pt x="2492633" y="12900"/>
                  </a:cubicBezTo>
                  <a:cubicBezTo>
                    <a:pt x="2500893" y="21160"/>
                    <a:pt x="2505533" y="32363"/>
                    <a:pt x="2505533" y="44044"/>
                  </a:cubicBezTo>
                  <a:lnTo>
                    <a:pt x="2505533" y="870629"/>
                  </a:lnTo>
                  <a:cubicBezTo>
                    <a:pt x="2505533" y="894954"/>
                    <a:pt x="2485814" y="914673"/>
                    <a:pt x="2461489" y="914673"/>
                  </a:cubicBezTo>
                  <a:lnTo>
                    <a:pt x="44044" y="914673"/>
                  </a:lnTo>
                  <a:cubicBezTo>
                    <a:pt x="32363" y="914673"/>
                    <a:pt x="21160" y="910033"/>
                    <a:pt x="12900" y="901773"/>
                  </a:cubicBezTo>
                  <a:cubicBezTo>
                    <a:pt x="4640" y="893513"/>
                    <a:pt x="0" y="882310"/>
                    <a:pt x="0" y="870629"/>
                  </a:cubicBezTo>
                  <a:lnTo>
                    <a:pt x="0" y="44044"/>
                  </a:lnTo>
                  <a:cubicBezTo>
                    <a:pt x="0" y="32363"/>
                    <a:pt x="4640" y="21160"/>
                    <a:pt x="12900" y="12900"/>
                  </a:cubicBezTo>
                  <a:cubicBezTo>
                    <a:pt x="21160" y="4640"/>
                    <a:pt x="32363" y="0"/>
                    <a:pt x="44044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505533" cy="9622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951826">
            <a:off x="15935474" y="-1031100"/>
            <a:ext cx="4100007" cy="4122493"/>
          </a:xfrm>
          <a:custGeom>
            <a:avLst/>
            <a:gdLst/>
            <a:ahLst/>
            <a:cxnLst/>
            <a:rect r="r" b="b" t="t" l="l"/>
            <a:pathLst>
              <a:path h="4122493" w="4100007">
                <a:moveTo>
                  <a:pt x="0" y="0"/>
                </a:moveTo>
                <a:lnTo>
                  <a:pt x="4100006" y="0"/>
                </a:lnTo>
                <a:lnTo>
                  <a:pt x="4100006" y="4122493"/>
                </a:lnTo>
                <a:lnTo>
                  <a:pt x="0" y="41224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3951826">
            <a:off x="15101038" y="9468123"/>
            <a:ext cx="4100007" cy="4122493"/>
          </a:xfrm>
          <a:custGeom>
            <a:avLst/>
            <a:gdLst/>
            <a:ahLst/>
            <a:cxnLst/>
            <a:rect r="r" b="b" t="t" l="l"/>
            <a:pathLst>
              <a:path h="4122493" w="4100007">
                <a:moveTo>
                  <a:pt x="0" y="0"/>
                </a:moveTo>
                <a:lnTo>
                  <a:pt x="4100007" y="0"/>
                </a:lnTo>
                <a:lnTo>
                  <a:pt x="4100007" y="4122492"/>
                </a:lnTo>
                <a:lnTo>
                  <a:pt x="0" y="41224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cover dir="r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DAHM0N-y_SA</dc:identifier>
  <dcterms:modified xsi:type="dcterms:W3CDTF">2011-08-01T06:04:30Z</dcterms:modified>
  <cp:revision>1</cp:revision>
  <dc:title>Quản Lý Ngân Hàng Đa Chi Nhánh
</dc:title>
</cp:coreProperties>
</file>